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2"/>
  </p:notesMasterIdLst>
  <p:sldIdLst>
    <p:sldId id="256" r:id="rId2"/>
    <p:sldId id="257" r:id="rId3"/>
    <p:sldId id="349" r:id="rId4"/>
    <p:sldId id="348" r:id="rId5"/>
    <p:sldId id="350" r:id="rId6"/>
    <p:sldId id="258" r:id="rId7"/>
    <p:sldId id="353" r:id="rId8"/>
    <p:sldId id="351" r:id="rId9"/>
    <p:sldId id="352" r:id="rId10"/>
    <p:sldId id="264" r:id="rId11"/>
  </p:sldIdLst>
  <p:sldSz cx="9144000" cy="5143500" type="screen16x9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Vidaloka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han Ahmed" initials="RA" lastIdx="1" clrIdx="0">
    <p:extLst>
      <p:ext uri="{19B8F6BF-5375-455C-9EA6-DF929625EA0E}">
        <p15:presenceInfo xmlns:p15="http://schemas.microsoft.com/office/powerpoint/2012/main" userId="0b4709e49083f90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D70C6A-C0E6-48E0-9767-5DA80D309D62}">
  <a:tblStyle styleId="{96D70C6A-C0E6-48E0-9767-5DA80D309D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36A56A-1D0A-4080-BE8C-B3A0B835CD5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8BC1BD-3E07-42F2-AD54-46293A881CCA}">
      <dgm:prSet phldrT="[Text]" phldr="0"/>
      <dgm:spPr/>
      <dgm:t>
        <a:bodyPr/>
        <a:lstStyle/>
        <a:p>
          <a:r>
            <a:rPr lang="en-US" dirty="0"/>
            <a:t>Data</a:t>
          </a:r>
        </a:p>
      </dgm:t>
    </dgm:pt>
    <dgm:pt modelId="{B1D5FDB6-7874-4685-8753-B4DA88D5B97D}" type="parTrans" cxnId="{C2ECB9BD-E6AB-48AB-9576-3E884AEFF8DD}">
      <dgm:prSet/>
      <dgm:spPr/>
      <dgm:t>
        <a:bodyPr/>
        <a:lstStyle/>
        <a:p>
          <a:endParaRPr lang="en-US"/>
        </a:p>
      </dgm:t>
    </dgm:pt>
    <dgm:pt modelId="{C1EFAC03-414D-4059-AF78-BB50FDF4460D}" type="sibTrans" cxnId="{C2ECB9BD-E6AB-48AB-9576-3E884AEFF8DD}">
      <dgm:prSet/>
      <dgm:spPr/>
      <dgm:t>
        <a:bodyPr/>
        <a:lstStyle/>
        <a:p>
          <a:endParaRPr lang="en-US"/>
        </a:p>
      </dgm:t>
    </dgm:pt>
    <dgm:pt modelId="{400FF774-98D9-4A16-AAD3-335525ED45A1}">
      <dgm:prSet phldrT="[Text]" phldr="0"/>
      <dgm:spPr/>
      <dgm:t>
        <a:bodyPr/>
        <a:lstStyle/>
        <a:p>
          <a:r>
            <a:rPr lang="en-US" dirty="0"/>
            <a:t>Python </a:t>
          </a:r>
        </a:p>
      </dgm:t>
    </dgm:pt>
    <dgm:pt modelId="{0C4B20B6-4FBB-42B4-A167-4B6F28F64BE4}" type="parTrans" cxnId="{B891F0C7-AD15-4D3F-B591-C7D4B7B16545}">
      <dgm:prSet/>
      <dgm:spPr/>
      <dgm:t>
        <a:bodyPr/>
        <a:lstStyle/>
        <a:p>
          <a:endParaRPr lang="en-US"/>
        </a:p>
      </dgm:t>
    </dgm:pt>
    <dgm:pt modelId="{6A92A6C8-D2A2-446D-AEE9-3CE6224B060F}" type="sibTrans" cxnId="{B891F0C7-AD15-4D3F-B591-C7D4B7B16545}">
      <dgm:prSet/>
      <dgm:spPr/>
      <dgm:t>
        <a:bodyPr/>
        <a:lstStyle/>
        <a:p>
          <a:endParaRPr lang="en-US"/>
        </a:p>
      </dgm:t>
    </dgm:pt>
    <dgm:pt modelId="{C707D1A0-381C-483B-99AB-6719E8F1AB2A}">
      <dgm:prSet phldrT="[Text]" phldr="0"/>
      <dgm:spPr/>
      <dgm:t>
        <a:bodyPr/>
        <a:lstStyle/>
        <a:p>
          <a:r>
            <a:rPr lang="en-US" dirty="0"/>
            <a:t>SQL</a:t>
          </a:r>
        </a:p>
      </dgm:t>
    </dgm:pt>
    <dgm:pt modelId="{E67834A4-5B64-42EC-8CE4-97082557893C}" type="parTrans" cxnId="{F9CAC34C-1B4B-4C92-91DE-C6801DE36352}">
      <dgm:prSet/>
      <dgm:spPr/>
      <dgm:t>
        <a:bodyPr/>
        <a:lstStyle/>
        <a:p>
          <a:endParaRPr lang="en-US"/>
        </a:p>
      </dgm:t>
    </dgm:pt>
    <dgm:pt modelId="{4E4B376B-68C4-4708-9433-5495D216BE8A}" type="sibTrans" cxnId="{F9CAC34C-1B4B-4C92-91DE-C6801DE36352}">
      <dgm:prSet/>
      <dgm:spPr/>
      <dgm:t>
        <a:bodyPr/>
        <a:lstStyle/>
        <a:p>
          <a:endParaRPr lang="en-US"/>
        </a:p>
      </dgm:t>
    </dgm:pt>
    <dgm:pt modelId="{758F8ED9-2B9B-47D3-BFAB-CF99BE001300}">
      <dgm:prSet/>
      <dgm:spPr/>
      <dgm:t>
        <a:bodyPr/>
        <a:lstStyle/>
        <a:p>
          <a:r>
            <a:rPr lang="en-US" dirty="0"/>
            <a:t>Power BI Dashboard</a:t>
          </a:r>
        </a:p>
      </dgm:t>
    </dgm:pt>
    <dgm:pt modelId="{C63E46D2-DE53-462B-8464-E7FE46E7CDA1}" type="parTrans" cxnId="{EC518477-39EF-4173-A57A-2C3539F74580}">
      <dgm:prSet/>
      <dgm:spPr/>
      <dgm:t>
        <a:bodyPr/>
        <a:lstStyle/>
        <a:p>
          <a:endParaRPr lang="en-US"/>
        </a:p>
      </dgm:t>
    </dgm:pt>
    <dgm:pt modelId="{0CED4FE1-9856-4E77-9423-60379047625E}" type="sibTrans" cxnId="{EC518477-39EF-4173-A57A-2C3539F74580}">
      <dgm:prSet/>
      <dgm:spPr/>
      <dgm:t>
        <a:bodyPr/>
        <a:lstStyle/>
        <a:p>
          <a:endParaRPr lang="en-US"/>
        </a:p>
      </dgm:t>
    </dgm:pt>
    <dgm:pt modelId="{2F7E0A21-1A2E-4FFA-A4DE-3A076CC941EB}">
      <dgm:prSet phldrT="[Text]" phldr="0"/>
      <dgm:spPr/>
      <dgm:t>
        <a:bodyPr/>
        <a:lstStyle/>
        <a:p>
          <a:r>
            <a:rPr lang="en-US"/>
            <a:t>Excel</a:t>
          </a:r>
          <a:endParaRPr lang="en-US" dirty="0"/>
        </a:p>
      </dgm:t>
    </dgm:pt>
    <dgm:pt modelId="{CDDB7DA8-FD57-403E-A498-F9A29A98EFF8}" type="parTrans" cxnId="{BE9D313B-1091-45C1-A0B1-1FA102D81D47}">
      <dgm:prSet/>
      <dgm:spPr/>
      <dgm:t>
        <a:bodyPr/>
        <a:lstStyle/>
        <a:p>
          <a:endParaRPr lang="en-US"/>
        </a:p>
      </dgm:t>
    </dgm:pt>
    <dgm:pt modelId="{E22AB66E-10D9-48FB-AA11-C3E13BCF54DD}" type="sibTrans" cxnId="{BE9D313B-1091-45C1-A0B1-1FA102D81D47}">
      <dgm:prSet/>
      <dgm:spPr/>
      <dgm:t>
        <a:bodyPr/>
        <a:lstStyle/>
        <a:p>
          <a:endParaRPr lang="en-US"/>
        </a:p>
      </dgm:t>
    </dgm:pt>
    <dgm:pt modelId="{429AC8CA-1677-447A-9072-BF90DE6F3735}" type="pres">
      <dgm:prSet presAssocID="{4C36A56A-1D0A-4080-BE8C-B3A0B835CD52}" presName="Name0" presStyleCnt="0">
        <dgm:presLayoutVars>
          <dgm:dir/>
          <dgm:resizeHandles val="exact"/>
        </dgm:presLayoutVars>
      </dgm:prSet>
      <dgm:spPr/>
    </dgm:pt>
    <dgm:pt modelId="{9822C86D-1B23-4D47-BFD7-2BC648A1B22B}" type="pres">
      <dgm:prSet presAssocID="{8D8BC1BD-3E07-42F2-AD54-46293A881CCA}" presName="node" presStyleLbl="node1" presStyleIdx="0" presStyleCnt="5">
        <dgm:presLayoutVars>
          <dgm:bulletEnabled val="1"/>
        </dgm:presLayoutVars>
      </dgm:prSet>
      <dgm:spPr/>
    </dgm:pt>
    <dgm:pt modelId="{EE04AD3A-D3C8-42F9-9218-A555C7C34293}" type="pres">
      <dgm:prSet presAssocID="{C1EFAC03-414D-4059-AF78-BB50FDF4460D}" presName="sibTrans" presStyleLbl="sibTrans2D1" presStyleIdx="0" presStyleCnt="4"/>
      <dgm:spPr/>
    </dgm:pt>
    <dgm:pt modelId="{D42CEC31-ED18-4F91-AEA4-35FC26CC959B}" type="pres">
      <dgm:prSet presAssocID="{C1EFAC03-414D-4059-AF78-BB50FDF4460D}" presName="connectorText" presStyleLbl="sibTrans2D1" presStyleIdx="0" presStyleCnt="4"/>
      <dgm:spPr/>
    </dgm:pt>
    <dgm:pt modelId="{623A4AC1-643D-4E6E-AC44-AC931FBC13D4}" type="pres">
      <dgm:prSet presAssocID="{2F7E0A21-1A2E-4FFA-A4DE-3A076CC941EB}" presName="node" presStyleLbl="node1" presStyleIdx="1" presStyleCnt="5">
        <dgm:presLayoutVars>
          <dgm:bulletEnabled val="1"/>
        </dgm:presLayoutVars>
      </dgm:prSet>
      <dgm:spPr/>
    </dgm:pt>
    <dgm:pt modelId="{5C63017F-E1B3-4222-AADB-6CF24787DAA5}" type="pres">
      <dgm:prSet presAssocID="{E22AB66E-10D9-48FB-AA11-C3E13BCF54DD}" presName="sibTrans" presStyleLbl="sibTrans2D1" presStyleIdx="1" presStyleCnt="4"/>
      <dgm:spPr/>
    </dgm:pt>
    <dgm:pt modelId="{6F2FD317-CFC5-4CA9-8FA0-9E4B4F906587}" type="pres">
      <dgm:prSet presAssocID="{E22AB66E-10D9-48FB-AA11-C3E13BCF54DD}" presName="connectorText" presStyleLbl="sibTrans2D1" presStyleIdx="1" presStyleCnt="4"/>
      <dgm:spPr/>
    </dgm:pt>
    <dgm:pt modelId="{4C2F6C2D-952C-4C81-993E-B9EE90BEA4E3}" type="pres">
      <dgm:prSet presAssocID="{400FF774-98D9-4A16-AAD3-335525ED45A1}" presName="node" presStyleLbl="node1" presStyleIdx="2" presStyleCnt="5">
        <dgm:presLayoutVars>
          <dgm:bulletEnabled val="1"/>
        </dgm:presLayoutVars>
      </dgm:prSet>
      <dgm:spPr/>
    </dgm:pt>
    <dgm:pt modelId="{6658F96F-4F3E-4B45-9AA6-8CD23D30F9C9}" type="pres">
      <dgm:prSet presAssocID="{6A92A6C8-D2A2-446D-AEE9-3CE6224B060F}" presName="sibTrans" presStyleLbl="sibTrans2D1" presStyleIdx="2" presStyleCnt="4"/>
      <dgm:spPr/>
    </dgm:pt>
    <dgm:pt modelId="{9CF0E9FE-85C4-4DA2-A366-A53886BE1D2C}" type="pres">
      <dgm:prSet presAssocID="{6A92A6C8-D2A2-446D-AEE9-3CE6224B060F}" presName="connectorText" presStyleLbl="sibTrans2D1" presStyleIdx="2" presStyleCnt="4"/>
      <dgm:spPr/>
    </dgm:pt>
    <dgm:pt modelId="{4F2686EB-1E51-4345-8935-C11A5897FB96}" type="pres">
      <dgm:prSet presAssocID="{C707D1A0-381C-483B-99AB-6719E8F1AB2A}" presName="node" presStyleLbl="node1" presStyleIdx="3" presStyleCnt="5">
        <dgm:presLayoutVars>
          <dgm:bulletEnabled val="1"/>
        </dgm:presLayoutVars>
      </dgm:prSet>
      <dgm:spPr/>
    </dgm:pt>
    <dgm:pt modelId="{5C663C3D-B551-4B2B-B05E-3990D85915ED}" type="pres">
      <dgm:prSet presAssocID="{4E4B376B-68C4-4708-9433-5495D216BE8A}" presName="sibTrans" presStyleLbl="sibTrans2D1" presStyleIdx="3" presStyleCnt="4"/>
      <dgm:spPr/>
    </dgm:pt>
    <dgm:pt modelId="{8EDBAF28-A9C1-4A54-884A-9FEC16C11DF3}" type="pres">
      <dgm:prSet presAssocID="{4E4B376B-68C4-4708-9433-5495D216BE8A}" presName="connectorText" presStyleLbl="sibTrans2D1" presStyleIdx="3" presStyleCnt="4"/>
      <dgm:spPr/>
    </dgm:pt>
    <dgm:pt modelId="{01F4DC80-7E68-4024-8F8F-0E0553DF4B0F}" type="pres">
      <dgm:prSet presAssocID="{758F8ED9-2B9B-47D3-BFAB-CF99BE001300}" presName="node" presStyleLbl="node1" presStyleIdx="4" presStyleCnt="5">
        <dgm:presLayoutVars>
          <dgm:bulletEnabled val="1"/>
        </dgm:presLayoutVars>
      </dgm:prSet>
      <dgm:spPr/>
    </dgm:pt>
  </dgm:ptLst>
  <dgm:cxnLst>
    <dgm:cxn modelId="{B505C80C-2AF2-4F0B-81BA-A5AEB977AF21}" type="presOf" srcId="{6A92A6C8-D2A2-446D-AEE9-3CE6224B060F}" destId="{9CF0E9FE-85C4-4DA2-A366-A53886BE1D2C}" srcOrd="1" destOrd="0" presId="urn:microsoft.com/office/officeart/2005/8/layout/process1"/>
    <dgm:cxn modelId="{ADECB40F-601F-4419-B982-62E4B8149F55}" type="presOf" srcId="{C1EFAC03-414D-4059-AF78-BB50FDF4460D}" destId="{D42CEC31-ED18-4F91-AEA4-35FC26CC959B}" srcOrd="1" destOrd="0" presId="urn:microsoft.com/office/officeart/2005/8/layout/process1"/>
    <dgm:cxn modelId="{BE9D313B-1091-45C1-A0B1-1FA102D81D47}" srcId="{4C36A56A-1D0A-4080-BE8C-B3A0B835CD52}" destId="{2F7E0A21-1A2E-4FFA-A4DE-3A076CC941EB}" srcOrd="1" destOrd="0" parTransId="{CDDB7DA8-FD57-403E-A498-F9A29A98EFF8}" sibTransId="{E22AB66E-10D9-48FB-AA11-C3E13BCF54DD}"/>
    <dgm:cxn modelId="{246B3164-E9E0-4C7C-8862-3B2BE082EF25}" type="presOf" srcId="{758F8ED9-2B9B-47D3-BFAB-CF99BE001300}" destId="{01F4DC80-7E68-4024-8F8F-0E0553DF4B0F}" srcOrd="0" destOrd="0" presId="urn:microsoft.com/office/officeart/2005/8/layout/process1"/>
    <dgm:cxn modelId="{75419F68-0DAD-4CF1-8996-E956F401DDB7}" type="presOf" srcId="{6A92A6C8-D2A2-446D-AEE9-3CE6224B060F}" destId="{6658F96F-4F3E-4B45-9AA6-8CD23D30F9C9}" srcOrd="0" destOrd="0" presId="urn:microsoft.com/office/officeart/2005/8/layout/process1"/>
    <dgm:cxn modelId="{F9CAC34C-1B4B-4C92-91DE-C6801DE36352}" srcId="{4C36A56A-1D0A-4080-BE8C-B3A0B835CD52}" destId="{C707D1A0-381C-483B-99AB-6719E8F1AB2A}" srcOrd="3" destOrd="0" parTransId="{E67834A4-5B64-42EC-8CE4-97082557893C}" sibTransId="{4E4B376B-68C4-4708-9433-5495D216BE8A}"/>
    <dgm:cxn modelId="{EFE2CF75-B0F6-4747-8980-FAF1097685DE}" type="presOf" srcId="{4C36A56A-1D0A-4080-BE8C-B3A0B835CD52}" destId="{429AC8CA-1677-447A-9072-BF90DE6F3735}" srcOrd="0" destOrd="0" presId="urn:microsoft.com/office/officeart/2005/8/layout/process1"/>
    <dgm:cxn modelId="{EC518477-39EF-4173-A57A-2C3539F74580}" srcId="{4C36A56A-1D0A-4080-BE8C-B3A0B835CD52}" destId="{758F8ED9-2B9B-47D3-BFAB-CF99BE001300}" srcOrd="4" destOrd="0" parTransId="{C63E46D2-DE53-462B-8464-E7FE46E7CDA1}" sibTransId="{0CED4FE1-9856-4E77-9423-60379047625E}"/>
    <dgm:cxn modelId="{4CE0FCA4-CAA6-452E-B8A0-421155F7C496}" type="presOf" srcId="{8D8BC1BD-3E07-42F2-AD54-46293A881CCA}" destId="{9822C86D-1B23-4D47-BFD7-2BC648A1B22B}" srcOrd="0" destOrd="0" presId="urn:microsoft.com/office/officeart/2005/8/layout/process1"/>
    <dgm:cxn modelId="{97F7A1B6-815C-4EAB-89F0-072E92D12DF3}" type="presOf" srcId="{E22AB66E-10D9-48FB-AA11-C3E13BCF54DD}" destId="{6F2FD317-CFC5-4CA9-8FA0-9E4B4F906587}" srcOrd="1" destOrd="0" presId="urn:microsoft.com/office/officeart/2005/8/layout/process1"/>
    <dgm:cxn modelId="{70AECEB9-A493-4289-B6BB-242634B4F4C1}" type="presOf" srcId="{400FF774-98D9-4A16-AAD3-335525ED45A1}" destId="{4C2F6C2D-952C-4C81-993E-B9EE90BEA4E3}" srcOrd="0" destOrd="0" presId="urn:microsoft.com/office/officeart/2005/8/layout/process1"/>
    <dgm:cxn modelId="{C2ECB9BD-E6AB-48AB-9576-3E884AEFF8DD}" srcId="{4C36A56A-1D0A-4080-BE8C-B3A0B835CD52}" destId="{8D8BC1BD-3E07-42F2-AD54-46293A881CCA}" srcOrd="0" destOrd="0" parTransId="{B1D5FDB6-7874-4685-8753-B4DA88D5B97D}" sibTransId="{C1EFAC03-414D-4059-AF78-BB50FDF4460D}"/>
    <dgm:cxn modelId="{A8F562BE-6CA8-4CB2-8FE2-0130EB9B439E}" type="presOf" srcId="{C1EFAC03-414D-4059-AF78-BB50FDF4460D}" destId="{EE04AD3A-D3C8-42F9-9218-A555C7C34293}" srcOrd="0" destOrd="0" presId="urn:microsoft.com/office/officeart/2005/8/layout/process1"/>
    <dgm:cxn modelId="{B891F0C7-AD15-4D3F-B591-C7D4B7B16545}" srcId="{4C36A56A-1D0A-4080-BE8C-B3A0B835CD52}" destId="{400FF774-98D9-4A16-AAD3-335525ED45A1}" srcOrd="2" destOrd="0" parTransId="{0C4B20B6-4FBB-42B4-A167-4B6F28F64BE4}" sibTransId="{6A92A6C8-D2A2-446D-AEE9-3CE6224B060F}"/>
    <dgm:cxn modelId="{21A3F2D5-0296-45B0-85C0-3B31B1660557}" type="presOf" srcId="{2F7E0A21-1A2E-4FFA-A4DE-3A076CC941EB}" destId="{623A4AC1-643D-4E6E-AC44-AC931FBC13D4}" srcOrd="0" destOrd="0" presId="urn:microsoft.com/office/officeart/2005/8/layout/process1"/>
    <dgm:cxn modelId="{614135E0-0991-4336-BAB1-414CC1BC36DF}" type="presOf" srcId="{4E4B376B-68C4-4708-9433-5495D216BE8A}" destId="{8EDBAF28-A9C1-4A54-884A-9FEC16C11DF3}" srcOrd="1" destOrd="0" presId="urn:microsoft.com/office/officeart/2005/8/layout/process1"/>
    <dgm:cxn modelId="{E63580E5-9353-4A89-B2B5-D103211E8D1F}" type="presOf" srcId="{4E4B376B-68C4-4708-9433-5495D216BE8A}" destId="{5C663C3D-B551-4B2B-B05E-3990D85915ED}" srcOrd="0" destOrd="0" presId="urn:microsoft.com/office/officeart/2005/8/layout/process1"/>
    <dgm:cxn modelId="{68372EED-7496-4FB9-B4F8-21158CE45076}" type="presOf" srcId="{C707D1A0-381C-483B-99AB-6719E8F1AB2A}" destId="{4F2686EB-1E51-4345-8935-C11A5897FB96}" srcOrd="0" destOrd="0" presId="urn:microsoft.com/office/officeart/2005/8/layout/process1"/>
    <dgm:cxn modelId="{37FFF6F0-779D-462F-AE0E-CBDE676F80F6}" type="presOf" srcId="{E22AB66E-10D9-48FB-AA11-C3E13BCF54DD}" destId="{5C63017F-E1B3-4222-AADB-6CF24787DAA5}" srcOrd="0" destOrd="0" presId="urn:microsoft.com/office/officeart/2005/8/layout/process1"/>
    <dgm:cxn modelId="{28C81708-1DB9-4B16-995F-2F404F578C96}" type="presParOf" srcId="{429AC8CA-1677-447A-9072-BF90DE6F3735}" destId="{9822C86D-1B23-4D47-BFD7-2BC648A1B22B}" srcOrd="0" destOrd="0" presId="urn:microsoft.com/office/officeart/2005/8/layout/process1"/>
    <dgm:cxn modelId="{B3E14F0A-46AA-4EDA-A56F-28062FFA8DDA}" type="presParOf" srcId="{429AC8CA-1677-447A-9072-BF90DE6F3735}" destId="{EE04AD3A-D3C8-42F9-9218-A555C7C34293}" srcOrd="1" destOrd="0" presId="urn:microsoft.com/office/officeart/2005/8/layout/process1"/>
    <dgm:cxn modelId="{DC24251C-A60E-47B0-B851-AAF1B4A17BF1}" type="presParOf" srcId="{EE04AD3A-D3C8-42F9-9218-A555C7C34293}" destId="{D42CEC31-ED18-4F91-AEA4-35FC26CC959B}" srcOrd="0" destOrd="0" presId="urn:microsoft.com/office/officeart/2005/8/layout/process1"/>
    <dgm:cxn modelId="{C629CFD8-06DF-48D9-B63F-F8C5649F24CE}" type="presParOf" srcId="{429AC8CA-1677-447A-9072-BF90DE6F3735}" destId="{623A4AC1-643D-4E6E-AC44-AC931FBC13D4}" srcOrd="2" destOrd="0" presId="urn:microsoft.com/office/officeart/2005/8/layout/process1"/>
    <dgm:cxn modelId="{599D2614-1F36-4ABF-B0CB-ED327AE411C4}" type="presParOf" srcId="{429AC8CA-1677-447A-9072-BF90DE6F3735}" destId="{5C63017F-E1B3-4222-AADB-6CF24787DAA5}" srcOrd="3" destOrd="0" presId="urn:microsoft.com/office/officeart/2005/8/layout/process1"/>
    <dgm:cxn modelId="{E3455F3E-09F8-49B4-8D81-3B94B6BA8D03}" type="presParOf" srcId="{5C63017F-E1B3-4222-AADB-6CF24787DAA5}" destId="{6F2FD317-CFC5-4CA9-8FA0-9E4B4F906587}" srcOrd="0" destOrd="0" presId="urn:microsoft.com/office/officeart/2005/8/layout/process1"/>
    <dgm:cxn modelId="{3C82334A-59F5-44A0-A23D-2EFF2143B9C8}" type="presParOf" srcId="{429AC8CA-1677-447A-9072-BF90DE6F3735}" destId="{4C2F6C2D-952C-4C81-993E-B9EE90BEA4E3}" srcOrd="4" destOrd="0" presId="urn:microsoft.com/office/officeart/2005/8/layout/process1"/>
    <dgm:cxn modelId="{1BA1873A-EF92-423E-9B29-A40F4369AC6C}" type="presParOf" srcId="{429AC8CA-1677-447A-9072-BF90DE6F3735}" destId="{6658F96F-4F3E-4B45-9AA6-8CD23D30F9C9}" srcOrd="5" destOrd="0" presId="urn:microsoft.com/office/officeart/2005/8/layout/process1"/>
    <dgm:cxn modelId="{CA4DDA5A-0A8A-4636-A234-4C4FF061EDEE}" type="presParOf" srcId="{6658F96F-4F3E-4B45-9AA6-8CD23D30F9C9}" destId="{9CF0E9FE-85C4-4DA2-A366-A53886BE1D2C}" srcOrd="0" destOrd="0" presId="urn:microsoft.com/office/officeart/2005/8/layout/process1"/>
    <dgm:cxn modelId="{B5D1B84F-EA1D-425B-8795-553177FD0284}" type="presParOf" srcId="{429AC8CA-1677-447A-9072-BF90DE6F3735}" destId="{4F2686EB-1E51-4345-8935-C11A5897FB96}" srcOrd="6" destOrd="0" presId="urn:microsoft.com/office/officeart/2005/8/layout/process1"/>
    <dgm:cxn modelId="{27544464-1240-4B20-818E-C988BE545BE2}" type="presParOf" srcId="{429AC8CA-1677-447A-9072-BF90DE6F3735}" destId="{5C663C3D-B551-4B2B-B05E-3990D85915ED}" srcOrd="7" destOrd="0" presId="urn:microsoft.com/office/officeart/2005/8/layout/process1"/>
    <dgm:cxn modelId="{EB5B77F6-E77D-433F-82D7-B791E38F7B47}" type="presParOf" srcId="{5C663C3D-B551-4B2B-B05E-3990D85915ED}" destId="{8EDBAF28-A9C1-4A54-884A-9FEC16C11DF3}" srcOrd="0" destOrd="0" presId="urn:microsoft.com/office/officeart/2005/8/layout/process1"/>
    <dgm:cxn modelId="{80DB98F4-4259-41E2-84DD-1750593D8F37}" type="presParOf" srcId="{429AC8CA-1677-447A-9072-BF90DE6F3735}" destId="{01F4DC80-7E68-4024-8F8F-0E0553DF4B0F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22C86D-1B23-4D47-BFD7-2BC648A1B22B}">
      <dsp:nvSpPr>
        <dsp:cNvPr id="0" name=""/>
        <dsp:cNvSpPr/>
      </dsp:nvSpPr>
      <dsp:spPr>
        <a:xfrm>
          <a:off x="1502" y="87130"/>
          <a:ext cx="465658" cy="279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Data</a:t>
          </a:r>
        </a:p>
      </dsp:txBody>
      <dsp:txXfrm>
        <a:off x="9685" y="95313"/>
        <a:ext cx="449292" cy="263029"/>
      </dsp:txXfrm>
    </dsp:sp>
    <dsp:sp modelId="{EE04AD3A-D3C8-42F9-9218-A555C7C34293}">
      <dsp:nvSpPr>
        <dsp:cNvPr id="0" name=""/>
        <dsp:cNvSpPr/>
      </dsp:nvSpPr>
      <dsp:spPr>
        <a:xfrm>
          <a:off x="513726" y="169086"/>
          <a:ext cx="98719" cy="1154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3726" y="192183"/>
        <a:ext cx="69103" cy="69289"/>
      </dsp:txXfrm>
    </dsp:sp>
    <dsp:sp modelId="{623A4AC1-643D-4E6E-AC44-AC931FBC13D4}">
      <dsp:nvSpPr>
        <dsp:cNvPr id="0" name=""/>
        <dsp:cNvSpPr/>
      </dsp:nvSpPr>
      <dsp:spPr>
        <a:xfrm>
          <a:off x="653424" y="87130"/>
          <a:ext cx="465658" cy="279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/>
            <a:t>Excel</a:t>
          </a:r>
          <a:endParaRPr lang="en-US" sz="600" kern="1200" dirty="0"/>
        </a:p>
      </dsp:txBody>
      <dsp:txXfrm>
        <a:off x="661607" y="95313"/>
        <a:ext cx="449292" cy="263029"/>
      </dsp:txXfrm>
    </dsp:sp>
    <dsp:sp modelId="{5C63017F-E1B3-4222-AADB-6CF24787DAA5}">
      <dsp:nvSpPr>
        <dsp:cNvPr id="0" name=""/>
        <dsp:cNvSpPr/>
      </dsp:nvSpPr>
      <dsp:spPr>
        <a:xfrm>
          <a:off x="1165649" y="169086"/>
          <a:ext cx="98719" cy="1154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65649" y="192183"/>
        <a:ext cx="69103" cy="69289"/>
      </dsp:txXfrm>
    </dsp:sp>
    <dsp:sp modelId="{4C2F6C2D-952C-4C81-993E-B9EE90BEA4E3}">
      <dsp:nvSpPr>
        <dsp:cNvPr id="0" name=""/>
        <dsp:cNvSpPr/>
      </dsp:nvSpPr>
      <dsp:spPr>
        <a:xfrm>
          <a:off x="1305347" y="87130"/>
          <a:ext cx="465658" cy="279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Python </a:t>
          </a:r>
        </a:p>
      </dsp:txBody>
      <dsp:txXfrm>
        <a:off x="1313530" y="95313"/>
        <a:ext cx="449292" cy="263029"/>
      </dsp:txXfrm>
    </dsp:sp>
    <dsp:sp modelId="{6658F96F-4F3E-4B45-9AA6-8CD23D30F9C9}">
      <dsp:nvSpPr>
        <dsp:cNvPr id="0" name=""/>
        <dsp:cNvSpPr/>
      </dsp:nvSpPr>
      <dsp:spPr>
        <a:xfrm>
          <a:off x="1817571" y="169086"/>
          <a:ext cx="98719" cy="1154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17571" y="192183"/>
        <a:ext cx="69103" cy="69289"/>
      </dsp:txXfrm>
    </dsp:sp>
    <dsp:sp modelId="{4F2686EB-1E51-4345-8935-C11A5897FB96}">
      <dsp:nvSpPr>
        <dsp:cNvPr id="0" name=""/>
        <dsp:cNvSpPr/>
      </dsp:nvSpPr>
      <dsp:spPr>
        <a:xfrm>
          <a:off x="1957269" y="87130"/>
          <a:ext cx="465658" cy="279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SQL</a:t>
          </a:r>
        </a:p>
      </dsp:txBody>
      <dsp:txXfrm>
        <a:off x="1965452" y="95313"/>
        <a:ext cx="449292" cy="263029"/>
      </dsp:txXfrm>
    </dsp:sp>
    <dsp:sp modelId="{5C663C3D-B551-4B2B-B05E-3990D85915ED}">
      <dsp:nvSpPr>
        <dsp:cNvPr id="0" name=""/>
        <dsp:cNvSpPr/>
      </dsp:nvSpPr>
      <dsp:spPr>
        <a:xfrm>
          <a:off x="2469494" y="169086"/>
          <a:ext cx="98719" cy="1154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69494" y="192183"/>
        <a:ext cx="69103" cy="69289"/>
      </dsp:txXfrm>
    </dsp:sp>
    <dsp:sp modelId="{01F4DC80-7E68-4024-8F8F-0E0553DF4B0F}">
      <dsp:nvSpPr>
        <dsp:cNvPr id="0" name=""/>
        <dsp:cNvSpPr/>
      </dsp:nvSpPr>
      <dsp:spPr>
        <a:xfrm>
          <a:off x="2609191" y="87130"/>
          <a:ext cx="465658" cy="2793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Power BI Dashboard</a:t>
          </a:r>
        </a:p>
      </dsp:txBody>
      <dsp:txXfrm>
        <a:off x="2617374" y="95313"/>
        <a:ext cx="449292" cy="263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2A1CAD06-67B0-F5CF-85F5-02D3AA1F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81D3B68D-5250-6A5A-5356-87583F3920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4EB634FD-7D61-91B2-3EA0-1079E84B95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580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8E59F89F-E554-EAA1-0B38-91BEBC4F3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8423D009-AED8-381A-B756-17C156AFD3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B166D5E7-D225-38E9-5F48-CC879B8153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0996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C4B82BF2-12DD-E635-62B5-01B62F817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>
            <a:extLst>
              <a:ext uri="{FF2B5EF4-FFF2-40B4-BE49-F238E27FC236}">
                <a16:creationId xmlns:a16="http://schemas.microsoft.com/office/drawing/2014/main" id="{10B695F2-C43B-4BFC-68E2-E9D54D7D39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>
            <a:extLst>
              <a:ext uri="{FF2B5EF4-FFF2-40B4-BE49-F238E27FC236}">
                <a16:creationId xmlns:a16="http://schemas.microsoft.com/office/drawing/2014/main" id="{02A404BF-DFF0-5A8D-84C5-B390EC0EE8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57CE6129-D9BD-8369-A5D0-D7AC085EB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>
            <a:extLst>
              <a:ext uri="{FF2B5EF4-FFF2-40B4-BE49-F238E27FC236}">
                <a16:creationId xmlns:a16="http://schemas.microsoft.com/office/drawing/2014/main" id="{FD0445EF-C9CD-F997-700A-B3CE005FE7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>
            <a:extLst>
              <a:ext uri="{FF2B5EF4-FFF2-40B4-BE49-F238E27FC236}">
                <a16:creationId xmlns:a16="http://schemas.microsoft.com/office/drawing/2014/main" id="{B5C1E04A-4D3F-B4E7-106C-6283122A1A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0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E4085110-BA3D-5AD6-5E59-E8B8C720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>
            <a:extLst>
              <a:ext uri="{FF2B5EF4-FFF2-40B4-BE49-F238E27FC236}">
                <a16:creationId xmlns:a16="http://schemas.microsoft.com/office/drawing/2014/main" id="{F5A9CAB2-50C4-D135-BAAA-BCA94F36A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>
            <a:extLst>
              <a:ext uri="{FF2B5EF4-FFF2-40B4-BE49-F238E27FC236}">
                <a16:creationId xmlns:a16="http://schemas.microsoft.com/office/drawing/2014/main" id="{A5CCD58A-0656-9578-A079-E9F26F75BA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675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411FB-3350-C5D7-B14B-537709EC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cf7a3c503a_0_0:notes">
            <a:extLst>
              <a:ext uri="{FF2B5EF4-FFF2-40B4-BE49-F238E27FC236}">
                <a16:creationId xmlns:a16="http://schemas.microsoft.com/office/drawing/2014/main" id="{611CCB0C-8228-87DC-A5DA-0C6AE4472F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cf7a3c503a_0_0:notes">
            <a:extLst>
              <a:ext uri="{FF2B5EF4-FFF2-40B4-BE49-F238E27FC236}">
                <a16:creationId xmlns:a16="http://schemas.microsoft.com/office/drawing/2014/main" id="{44895889-B780-973A-5ED9-4D649A5BA7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548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cc7554a049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cc7554a049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5" r:id="rId6"/>
    <p:sldLayoutId id="2147483697" r:id="rId7"/>
    <p:sldLayoutId id="2147483698" r:id="rId8"/>
    <p:sldLayoutId id="2147483699" r:id="rId9"/>
    <p:sldLayoutId id="214748370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ronv1736@gmail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927556" y="1352854"/>
            <a:ext cx="7288887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Automotive Warranty Analytics: Data-Driven Insights for Service Optimization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5865487" y="4396985"/>
            <a:ext cx="2238563" cy="4939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Rehan Ahmed Rikati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5922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 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warranty claims and service cost were impacting profitability.</a:t>
            </a:r>
          </a:p>
          <a:p>
            <a:pPr marL="285750" indent="-285750">
              <a:buSzPts val="1100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central system existed to analyze vehicle performance, claim trends and reliability patterns </a:t>
            </a:r>
          </a:p>
          <a:p>
            <a:pPr marL="285750" indent="-285750">
              <a:buSzPts val="1100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was to identify high risk models and cost saving opportunities through data driven insights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6D54D9E4-DF5A-1B17-75E2-233D998DA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A057DB95-2C35-0738-27F7-331C4C164D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97057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Analytical Approach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5" name="Google Shape;495;p61">
            <a:extLst>
              <a:ext uri="{FF2B5EF4-FFF2-40B4-BE49-F238E27FC236}">
                <a16:creationId xmlns:a16="http://schemas.microsoft.com/office/drawing/2014/main" id="{24F607FC-F91F-793C-89A2-C9AAA01819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50" y="1209130"/>
            <a:ext cx="385875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0" indent="0">
              <a:buSzPts val="1100"/>
              <a:buNone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Service, warranty and sensor data.</a:t>
            </a:r>
          </a:p>
          <a:p>
            <a:pPr marL="0" indent="0">
              <a:buSzPts val="1100"/>
              <a:buNone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 in claims rates and service cost</a:t>
            </a:r>
          </a:p>
          <a:p>
            <a:pPr marL="0" indent="0">
              <a:buSzPts val="1100"/>
              <a:buNone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reliability and vehicle aging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71957A-0599-9061-4E21-0F41ED85F06B}"/>
              </a:ext>
            </a:extLst>
          </p:cNvPr>
          <p:cNvSpPr txBox="1"/>
          <p:nvPr/>
        </p:nvSpPr>
        <p:spPr>
          <a:xfrm>
            <a:off x="4688958" y="1272924"/>
            <a:ext cx="3858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495;p61">
            <a:extLst>
              <a:ext uri="{FF2B5EF4-FFF2-40B4-BE49-F238E27FC236}">
                <a16:creationId xmlns:a16="http://schemas.microsoft.com/office/drawing/2014/main" id="{461FEA21-1EEE-64BB-9AC0-B142F2F5A4E6}"/>
              </a:ext>
            </a:extLst>
          </p:cNvPr>
          <p:cNvSpPr txBox="1">
            <a:spLocks/>
          </p:cNvSpPr>
          <p:nvPr/>
        </p:nvSpPr>
        <p:spPr>
          <a:xfrm>
            <a:off x="4572000" y="1209130"/>
            <a:ext cx="4323908" cy="359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SzPts val="1100"/>
              <a:buFont typeface="Lato"/>
              <a:buNone/>
            </a:pPr>
            <a:r>
              <a:rPr lang="en-US" sz="2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</a:p>
          <a:p>
            <a:pPr marL="0" indent="0">
              <a:buSzPts val="1100"/>
              <a:buNone/>
            </a:pPr>
            <a:endParaRPr lang="en-US" sz="2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ts val="1100"/>
              <a:buNone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for early exploration of data.</a:t>
            </a:r>
          </a:p>
          <a:p>
            <a:pPr marL="0" indent="0">
              <a:buSzPts val="1100"/>
              <a:buNone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using python. Handled nulls, fixed typos, standardized text.</a:t>
            </a:r>
          </a:p>
          <a:p>
            <a:pPr marL="0" indent="0">
              <a:buSzPts val="1100"/>
              <a:buNone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based Exploratory data analysis (CTE, window function, aggregations).</a:t>
            </a:r>
          </a:p>
          <a:p>
            <a:pPr marL="0" indent="0">
              <a:buSzPts val="1100"/>
              <a:buNone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for actionable insights. 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6077E5E-D1B7-0176-6736-5434C3E0E1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3211969"/>
              </p:ext>
            </p:extLst>
          </p:nvPr>
        </p:nvGraphicFramePr>
        <p:xfrm>
          <a:off x="5195777" y="1772106"/>
          <a:ext cx="3076353" cy="453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7718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CC2190A5-58DC-BEB6-90F5-2B289B7DD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17E4B395-6E19-E38A-FE98-CF0A74FB1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3" y="408772"/>
            <a:ext cx="565922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Summary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BE9C6D-01E8-3691-CF95-1D2A4FABE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21603"/>
              </p:ext>
            </p:extLst>
          </p:nvPr>
        </p:nvGraphicFramePr>
        <p:xfrm>
          <a:off x="713223" y="1233883"/>
          <a:ext cx="8104208" cy="2679307"/>
        </p:xfrm>
        <a:graphic>
          <a:graphicData uri="http://schemas.openxmlformats.org/drawingml/2006/table">
            <a:tbl>
              <a:tblPr firstRow="1" bandRow="1">
                <a:tableStyleId>{96D70C6A-C0E6-48E0-9767-5DA80D309D62}</a:tableStyleId>
              </a:tblPr>
              <a:tblGrid>
                <a:gridCol w="2026052">
                  <a:extLst>
                    <a:ext uri="{9D8B030D-6E8A-4147-A177-3AD203B41FA5}">
                      <a16:colId xmlns:a16="http://schemas.microsoft.com/office/drawing/2014/main" val="3265463142"/>
                    </a:ext>
                  </a:extLst>
                </a:gridCol>
                <a:gridCol w="2026052">
                  <a:extLst>
                    <a:ext uri="{9D8B030D-6E8A-4147-A177-3AD203B41FA5}">
                      <a16:colId xmlns:a16="http://schemas.microsoft.com/office/drawing/2014/main" val="499658434"/>
                    </a:ext>
                  </a:extLst>
                </a:gridCol>
                <a:gridCol w="2026052">
                  <a:extLst>
                    <a:ext uri="{9D8B030D-6E8A-4147-A177-3AD203B41FA5}">
                      <a16:colId xmlns:a16="http://schemas.microsoft.com/office/drawing/2014/main" val="1976252826"/>
                    </a:ext>
                  </a:extLst>
                </a:gridCol>
                <a:gridCol w="2026052">
                  <a:extLst>
                    <a:ext uri="{9D8B030D-6E8A-4147-A177-3AD203B41FA5}">
                      <a16:colId xmlns:a16="http://schemas.microsoft.com/office/drawing/2014/main" val="2837999304"/>
                    </a:ext>
                  </a:extLst>
                </a:gridCol>
              </a:tblGrid>
              <a:tr h="34399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 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Rows 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</a:t>
                      </a:r>
                    </a:p>
                  </a:txBody>
                  <a:tcPr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gradFill>
                      <a:gsLst>
                        <a:gs pos="90208">
                          <a:srgbClr val="BAADAB"/>
                        </a:gs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1072341"/>
                  </a:ext>
                </a:extLst>
              </a:tr>
              <a:tr h="49196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Vehicles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Model, Year, Mileage, 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189347"/>
                  </a:ext>
                </a:extLst>
              </a:tr>
              <a:tr h="64949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Records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date, Component Cost, Issue type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013356"/>
                  </a:ext>
                </a:extLst>
              </a:tr>
              <a:tr h="49196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Warranty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Claim date, Status, Amount, 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8936322"/>
                  </a:ext>
                </a:extLst>
              </a:tr>
              <a:tr h="64949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 temp, RPM, Fuel Efficiency, Error codes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8210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B21C9A-06A7-2071-3890-CDFFB166A2B6}"/>
              </a:ext>
            </a:extLst>
          </p:cNvPr>
          <p:cNvSpPr txBox="1"/>
          <p:nvPr/>
        </p:nvSpPr>
        <p:spPr>
          <a:xfrm>
            <a:off x="713223" y="4165601"/>
            <a:ext cx="8104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but realistic data created to simulate real world automotive records.</a:t>
            </a:r>
          </a:p>
        </p:txBody>
      </p:sp>
    </p:spTree>
    <p:extLst>
      <p:ext uri="{BB962C8B-B14F-4D97-AF65-F5344CB8AC3E}">
        <p14:creationId xmlns:p14="http://schemas.microsoft.com/office/powerpoint/2010/main" val="821090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559A966-126F-33AD-5387-D13FCB632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BFE2A589-D4CC-0E10-6E4C-79D797F11B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97057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highlights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5" name="Google Shape;495;p61">
            <a:extLst>
              <a:ext uri="{FF2B5EF4-FFF2-40B4-BE49-F238E27FC236}">
                <a16:creationId xmlns:a16="http://schemas.microsoft.com/office/drawing/2014/main" id="{944D3D4B-1CD2-BB06-F87D-457932D7F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50" y="1209130"/>
            <a:ext cx="8162236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from region and model names.</a:t>
            </a:r>
          </a:p>
          <a:p>
            <a:pPr marL="285750" indent="-285750">
              <a:buSzPts val="1100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missing values using median values.</a:t>
            </a:r>
          </a:p>
          <a:p>
            <a:pPr marL="285750" indent="-285750">
              <a:buSzPts val="1100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date to datetime format.</a:t>
            </a:r>
          </a:p>
          <a:p>
            <a:pPr marL="285750" indent="-285750">
              <a:buSzPts val="1100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Replaced invalid service cost and negative values to 0.</a:t>
            </a:r>
          </a:p>
          <a:p>
            <a:pPr marL="285750" indent="-285750">
              <a:buSzPts val="1100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Replaced NULLs with placeholder like “Unknown”.</a:t>
            </a:r>
          </a:p>
          <a:p>
            <a:pPr marL="285750" indent="-285750">
              <a:buSzPts val="1100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ts val="1100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region and model names.</a:t>
            </a:r>
          </a:p>
          <a:p>
            <a:pPr marL="285750" indent="-285750">
              <a:buSzPts val="1100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ts val="1100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ts val="1100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SzPts val="1100"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ts val="1100"/>
              <a:buNone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ts val="1100"/>
              <a:buNone/>
            </a:pPr>
            <a:endParaRPr lang="en-US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685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/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616249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and Cleaned Data Examples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25988DF-60CF-7E26-35B3-8BB32095D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4" y="3944888"/>
            <a:ext cx="3121585" cy="36783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C12AA69-A993-9358-ED1E-EC01EF554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55" y="1198612"/>
            <a:ext cx="2466721" cy="174265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FE5F5D6-3B3E-9DE7-39F4-3342AB984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24" y="3196254"/>
            <a:ext cx="3121585" cy="37162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BC32273-DDF5-0298-0983-E9C826C7C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974" y="1198612"/>
            <a:ext cx="2445406" cy="174265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8372DE7-A98D-82B5-113D-25AF4B6E83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6795" y="3191660"/>
            <a:ext cx="3121585" cy="37621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49888CD-E673-44A5-16C3-7615F28CF8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6795" y="3948258"/>
            <a:ext cx="3121585" cy="367830"/>
          </a:xfrm>
          <a:prstGeom prst="rect">
            <a:avLst/>
          </a:prstGeom>
        </p:spPr>
      </p:pic>
      <p:sp>
        <p:nvSpPr>
          <p:cNvPr id="45" name="Arrow: Notched Right 44">
            <a:extLst>
              <a:ext uri="{FF2B5EF4-FFF2-40B4-BE49-F238E27FC236}">
                <a16:creationId xmlns:a16="http://schemas.microsoft.com/office/drawing/2014/main" id="{14D8EA14-0126-AA03-F475-AA2A0A924D45}"/>
              </a:ext>
            </a:extLst>
          </p:cNvPr>
          <p:cNvSpPr/>
          <p:nvPr/>
        </p:nvSpPr>
        <p:spPr>
          <a:xfrm>
            <a:off x="4371881" y="1947815"/>
            <a:ext cx="557842" cy="313754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Notched Right 45">
            <a:extLst>
              <a:ext uri="{FF2B5EF4-FFF2-40B4-BE49-F238E27FC236}">
                <a16:creationId xmlns:a16="http://schemas.microsoft.com/office/drawing/2014/main" id="{43038113-A15B-7EC1-258E-CC0109801344}"/>
              </a:ext>
            </a:extLst>
          </p:cNvPr>
          <p:cNvSpPr/>
          <p:nvPr/>
        </p:nvSpPr>
        <p:spPr>
          <a:xfrm>
            <a:off x="4371881" y="3222891"/>
            <a:ext cx="557842" cy="313754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Notched Right 46">
            <a:extLst>
              <a:ext uri="{FF2B5EF4-FFF2-40B4-BE49-F238E27FC236}">
                <a16:creationId xmlns:a16="http://schemas.microsoft.com/office/drawing/2014/main" id="{6828008F-7518-9638-9F7D-71CFF46DC58F}"/>
              </a:ext>
            </a:extLst>
          </p:cNvPr>
          <p:cNvSpPr/>
          <p:nvPr/>
        </p:nvSpPr>
        <p:spPr>
          <a:xfrm>
            <a:off x="4371881" y="3967066"/>
            <a:ext cx="557842" cy="313754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821E97C9-ACB3-5D5D-7BDF-B58C12628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>
            <a:extLst>
              <a:ext uri="{FF2B5EF4-FFF2-40B4-BE49-F238E27FC236}">
                <a16:creationId xmlns:a16="http://schemas.microsoft.com/office/drawing/2014/main" id="{712AD591-3300-9E2F-7584-490F1A6E07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82988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Insights Summary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147BC3-1D46-259B-1CF6-900EC681EA46}"/>
              </a:ext>
            </a:extLst>
          </p:cNvPr>
          <p:cNvSpPr txBox="1"/>
          <p:nvPr/>
        </p:nvSpPr>
        <p:spPr>
          <a:xfrm>
            <a:off x="746472" y="1342473"/>
            <a:ext cx="76957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age over 8 years old show a 25% increase in service frequency.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TurboPro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report the highest average service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TurboPro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claim approval rate (87.81%).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score correlates highly with mileage and service history.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TurboPro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average mileage.</a:t>
            </a:r>
          </a:p>
        </p:txBody>
      </p:sp>
    </p:spTree>
    <p:extLst>
      <p:ext uri="{BB962C8B-B14F-4D97-AF65-F5344CB8AC3E}">
        <p14:creationId xmlns:p14="http://schemas.microsoft.com/office/powerpoint/2010/main" val="3771264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9F37EAD0-4C9C-907C-6E57-AAC3C7CA3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>
            <a:extLst>
              <a:ext uri="{FF2B5EF4-FFF2-40B4-BE49-F238E27FC236}">
                <a16:creationId xmlns:a16="http://schemas.microsoft.com/office/drawing/2014/main" id="{5224A760-B69E-CAEF-EEEA-CA637A76EB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57059" y="158675"/>
            <a:ext cx="482988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54D2E0-B1B6-B499-1856-B9BE16813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5" y="793898"/>
            <a:ext cx="7821175" cy="390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1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>
          <a:extLst>
            <a:ext uri="{FF2B5EF4-FFF2-40B4-BE49-F238E27FC236}">
              <a16:creationId xmlns:a16="http://schemas.microsoft.com/office/drawing/2014/main" id="{E6EC2AC4-785B-562D-EC42-5462111A7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2">
            <a:extLst>
              <a:ext uri="{FF2B5EF4-FFF2-40B4-BE49-F238E27FC236}">
                <a16:creationId xmlns:a16="http://schemas.microsoft.com/office/drawing/2014/main" id="{B9B38ABB-A2D6-B06A-FAA5-BB13362FCD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82988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395CD7-3E2B-94D7-A058-DE3A045616A0}"/>
              </a:ext>
            </a:extLst>
          </p:cNvPr>
          <p:cNvSpPr txBox="1"/>
          <p:nvPr/>
        </p:nvSpPr>
        <p:spPr>
          <a:xfrm>
            <a:off x="713225" y="1183756"/>
            <a:ext cx="77715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Frequency Service model: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TurboPro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 deeper quality checks.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Preventative Maintenance: Focus on vehicles with mileage greater than 80k to reduce future claims.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Warranty Optimization: Review approval criteria to cut rejection delay.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integration: Use temperature and RPM patterns for early fault detections.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71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845550" y="1688388"/>
            <a:ext cx="74529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sp>
        <p:nvSpPr>
          <p:cNvPr id="2" name="Google Shape;489;p60">
            <a:extLst>
              <a:ext uri="{FF2B5EF4-FFF2-40B4-BE49-F238E27FC236}">
                <a16:creationId xmlns:a16="http://schemas.microsoft.com/office/drawing/2014/main" id="{61BB69A4-CF05-41F2-05BE-B3E6F601ABD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5818" y="3759032"/>
            <a:ext cx="2288182" cy="1084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Rehan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ronv1736@gmail.com</a:t>
            </a:r>
            <a:endParaRPr lang="e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+919535238447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1794</TotalTime>
  <Words>374</Words>
  <Application>Microsoft Office PowerPoint</Application>
  <PresentationFormat>On-screen Show (16:9)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Lato</vt:lpstr>
      <vt:lpstr>Times New Roman</vt:lpstr>
      <vt:lpstr>Montserrat</vt:lpstr>
      <vt:lpstr>Vidaloka</vt:lpstr>
      <vt:lpstr>Minimalist Business Slides XL by Slidesgo</vt:lpstr>
      <vt:lpstr>Automotive Warranty Analytics: Data-Driven Insights for Service Optimization</vt:lpstr>
      <vt:lpstr>Business Problem </vt:lpstr>
      <vt:lpstr>Objective and Analytical Approach</vt:lpstr>
      <vt:lpstr>Dataset Summary</vt:lpstr>
      <vt:lpstr>Data Cleaning highlights</vt:lpstr>
      <vt:lpstr>Raw and Cleaned Data Examples</vt:lpstr>
      <vt:lpstr>SQL Insights Summary</vt:lpstr>
      <vt:lpstr>Power BI Dashboard</vt:lpstr>
      <vt:lpstr>Recommendations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Rehan Ahmed</dc:creator>
  <cp:lastModifiedBy>Rehan Ahmed</cp:lastModifiedBy>
  <cp:revision>6</cp:revision>
  <dcterms:modified xsi:type="dcterms:W3CDTF">2025-11-06T19:16:17Z</dcterms:modified>
</cp:coreProperties>
</file>